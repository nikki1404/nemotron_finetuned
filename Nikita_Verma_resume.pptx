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Century Gothic" panose="020B050202020202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ML1XBiWT3s5ZOvUpGDLpOr7f2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1B5F13-59AE-45E4-9BB5-5CCFF8B39774}">
  <a:tblStyle styleId="{781B5F13-59AE-45E4-9BB5-5CCFF8B397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726"/>
  </p:normalViewPr>
  <p:slideViewPr>
    <p:cSldViewPr snapToGrid="0">
      <p:cViewPr>
        <p:scale>
          <a:sx n="75" d="100"/>
          <a:sy n="75" d="100"/>
        </p:scale>
        <p:origin x="3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14" Type="http://customschemas.google.com/relationships/presentationmetadata" Target="meta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6e631f0f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7" name="Google Shape;397;g16e631f0f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6e631f0f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7" name="Google Shape;397;g16e631f0f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1864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Orange Title">
  <p:cSld name="Two Column Orange Title">
    <p:bg>
      <p:bgPr>
        <a:solidFill>
          <a:schemeClr val="lt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 txBox="1"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4" name="Google Shape;31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7"/>
          <p:cNvSpPr txBox="1">
            <a:spLocks noGrp="1"/>
          </p:cNvSpPr>
          <p:nvPr>
            <p:ph type="ftr" idx="11"/>
          </p:nvPr>
        </p:nvSpPr>
        <p:spPr>
          <a:xfrm>
            <a:off x="4038599" y="6394198"/>
            <a:ext cx="6376317" cy="182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"/>
          <p:cNvSpPr txBox="1">
            <a:spLocks noGrp="1"/>
          </p:cNvSpPr>
          <p:nvPr>
            <p:ph type="sldNum" idx="12"/>
          </p:nvPr>
        </p:nvSpPr>
        <p:spPr>
          <a:xfrm>
            <a:off x="10477638" y="6394198"/>
            <a:ext cx="481556" cy="182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7"/>
          <p:cNvSpPr txBox="1">
            <a:spLocks noGrp="1"/>
          </p:cNvSpPr>
          <p:nvPr>
            <p:ph type="body" idx="1"/>
          </p:nvPr>
        </p:nvSpPr>
        <p:spPr>
          <a:xfrm>
            <a:off x="457200" y="457200"/>
            <a:ext cx="11277598" cy="42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7"/>
          <p:cNvSpPr txBox="1">
            <a:spLocks noGrp="1"/>
          </p:cNvSpPr>
          <p:nvPr>
            <p:ph type="body" idx="2"/>
          </p:nvPr>
        </p:nvSpPr>
        <p:spPr>
          <a:xfrm>
            <a:off x="457200" y="3429000"/>
            <a:ext cx="4681538" cy="270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TR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7"/>
          <p:cNvSpPr txBox="1">
            <a:spLocks noGrp="1"/>
          </p:cNvSpPr>
          <p:nvPr>
            <p:ph type="body" idx="3"/>
          </p:nvPr>
        </p:nvSpPr>
        <p:spPr>
          <a:xfrm>
            <a:off x="457200" y="2795955"/>
            <a:ext cx="4681538" cy="556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7"/>
          <p:cNvSpPr txBox="1">
            <a:spLocks noGrp="1"/>
          </p:cNvSpPr>
          <p:nvPr>
            <p:ph type="body" idx="4"/>
          </p:nvPr>
        </p:nvSpPr>
        <p:spPr>
          <a:xfrm>
            <a:off x="5689600" y="2795955"/>
            <a:ext cx="4681538" cy="556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7"/>
          <p:cNvSpPr txBox="1">
            <a:spLocks noGrp="1"/>
          </p:cNvSpPr>
          <p:nvPr>
            <p:ph type="body" idx="5"/>
          </p:nvPr>
        </p:nvSpPr>
        <p:spPr>
          <a:xfrm>
            <a:off x="5678556" y="3429000"/>
            <a:ext cx="4681538" cy="270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TR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1" name="Google Shape;33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0" name="Google Shape;350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2" name="Google Shape;352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68" name="Google Shape;368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9" name="Google Shape;3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6" name="Google Shape;37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8" name="Google Shape;30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9" name="Google Shape;30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0" name="Google Shape;31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1" name="Google Shape;31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6e631f0f73_0_0"/>
          <p:cNvSpPr txBox="1"/>
          <p:nvPr/>
        </p:nvSpPr>
        <p:spPr>
          <a:xfrm>
            <a:off x="196150" y="45720"/>
            <a:ext cx="11919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Pts val="3200"/>
              <a:buFont typeface="Calibri"/>
              <a:buNone/>
            </a:pPr>
            <a:r>
              <a:rPr sz="2400" b="0">
                <a:solidFill>
                  <a:srgbClr val="F24B00"/>
                </a:solidFill>
                <a:latin typeface="Arial"/>
              </a:rPr>
              <a:t>NIKITA VERMA | re_nikitav | Nikita.Verma2@exlservice.com</a:t>
            </a:r>
          </a:p>
        </p:txBody>
      </p:sp>
      <p:sp>
        <p:nvSpPr>
          <p:cNvPr id="400" name="Google Shape;400;g16e631f0f73_0_0"/>
          <p:cNvSpPr txBox="1"/>
          <p:nvPr/>
        </p:nvSpPr>
        <p:spPr>
          <a:xfrm>
            <a:off x="196150" y="429768"/>
            <a:ext cx="112401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50" b="0">
                <a:solidFill>
                  <a:srgbClr val="000000"/>
                </a:solidFill>
                <a:latin typeface="Arial"/>
              </a:rPr>
              <a:t>AI Engineer – Speech AI / ML Infrastructure | Machine Learning Engineer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401" name="Google Shape;401;g16e631f0f73_0_0"/>
          <p:cNvGraphicFramePr/>
          <p:nvPr>
            <p:extLst>
              <p:ext uri="{D42A27DB-BD31-4B8C-83A1-F6EECF244321}">
                <p14:modId xmlns:p14="http://schemas.microsoft.com/office/powerpoint/2010/main" val="2385965004"/>
              </p:ext>
            </p:extLst>
          </p:nvPr>
        </p:nvGraphicFramePr>
        <p:xfrm>
          <a:off x="196154" y="746134"/>
          <a:ext cx="11595353" cy="6047891"/>
        </p:xfrm>
        <a:graphic>
          <a:graphicData uri="http://schemas.openxmlformats.org/drawingml/2006/table">
            <a:tbl>
              <a:tblPr>
                <a:noFill/>
                <a:tableStyleId>{781B5F13-59AE-45E4-9BB5-5CCFF8B39774}</a:tableStyleId>
              </a:tblPr>
              <a:tblGrid>
                <a:gridCol w="162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4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585">
                <a:tc>
                  <a:txBody>
                    <a:bodyPr anchor="ctr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entury Gothic"/>
                          <a:cs typeface="Century Gothic"/>
                          <a:sym typeface="Century Gothic"/>
                        </a:rPr>
                        <a:t>Summary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76200" rIns="76200" tIns="50800" bIns="50800" wrap="square" anchor="t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sz="1120" b="0">
                          <a:solidFill>
                            <a:srgbClr val="232323"/>
                          </a:solidFill>
                          <a:latin typeface="Arial"/>
                        </a:rPr>
                        <a:t>Experienced Python AI/ML Engineer with nearly 5 years across Speech AI, GenAI/LLMs, NLP, ASR/STT, ML modeling, cloud deployment and production ML infrastructure. Strong hands-on experience building multilingual English + Spanish real-time transcription systems, OpenAI-compatible APIs, RAG/IVA chatbots, benchmarking pipelines and GPU-enabled deployments using Docker, CUDA, GCP and AWS.</a:t>
                      </a:r>
                      <a:endParaRPr lang="en-US" sz="900" b="1" dirty="0"/>
                    </a:p>
                  </a:txBody>
                  <a:tcPr marL="45725" marR="45725" marT="45725" marB="45725" anchor="t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306">
                <a:tc>
                  <a:txBody>
                    <a:bodyPr anchor="ctr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r>
                        <a:rPr lang="en-US" sz="95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entury Gothic"/>
                          <a:cs typeface="Century Gothic"/>
                          <a:sym typeface="Century Gothic"/>
                        </a:rPr>
                        <a:t>Professional Experience </a:t>
                      </a:r>
                      <a:endParaRPr sz="900" u="none" strike="noStrike" cap="none" dirty="0"/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76200" rIns="76200" tIns="50800" bIns="50800" wrap="square" anchor="t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EXL | AI Engineer – Speech AI / ML Infrastructure | Oct 2025 – Present</a:t>
                      </a:r>
                      <a:endParaRPr lang="en-US" sz="900" b="1" dirty="0"/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Built production-grade multilingual English + Spanish real-time ASR/STT systems using NVIDIA Parakeet-TDT/CTC/RNNT, Nemotron Speech Streaming, Whisper Large-v3 Turbo, Google STT v2 and Azure Speech Services.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Architected FastAPI + Uvicorn WebSocket ASR servers for live microphone and audio-file streaming with PCM chunk ingestion, partial/final transcript events, manual flush support and silence-based finalization.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Tuned VAD pipelines using WebRTC, Adaptive Energy and Silero VAD with 10/20/30 ms chunks, pre-speech padding and 200–900 ms silence windows to reduce premature cutoffs and last-word truncation.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Implemented OpenAI-compatible /v1/audio/transcriptions endpoints for client testing, model routing, language handling and REST-based audio transcription workflows.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Benchmarked ASR models across WER, CER, SER, TTFT, TTFB, first/average latency, context-switching score and transcript quality; prepared Excel reports with model-wise recommendations.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Containerized GPU inference services with Docker, CUDA 12.x and NVIDIA runtimes; resolved NeMo import crashes, torch/CUDA mismatches, segfaults, PyAudio/ffmpeg build failures and pydantic conflicts.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Deployed and validated ASR services on GCP Compute Engine, Artifact Registry, Cloud Run and AWS EC2 with registry pushes, firewall/port setup, SSH tunneling, health checks and endpoint testing.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Worked on Nemotron 3.5 ASR fine-tuning workflow including dataset preparation, 16 kHz WAV conversion, train/val/test manifests, baseline evaluation, chunking strategy and CUDA OOM mitigation.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Built client-side testing utilities for microphone, WAV/MP3/MP4 file streaming, real-time pacing, 16 kHz resampling and JSON latency telemetry for partial/final events.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Created benchmark outputs including per-file transcripts, latency summaries, error logs and WER/CER/SER analysis for long-form audio validation.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Handled ASR language-control requirements for English and Spanish transcription, endpoint parameter validation and script/output consistency checks.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Implemented spoken-number normalization rules for years, compound numbers, repeated digits, mixed digit-word inputs and telephony-style sequences.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Evaluated NVIDIA Triton, NIM, Riva and vLLM serving options for GPU utilization, streaming behavior, model discovery and scalable inference strategy.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Earnin | Senior ML Engineer | Mar 2025 – Aug 2025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Designed and maintained ML/statistical models for marketing optimization across audience targeting, channels, campaigns and customer journeys.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Specialized in Marketing Mix Modeling (MMM), LTV prediction, lift estimation and causal inference to support data-driven strategic decisions.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Developed a financial IVA chatbot using Python, Amazon Lex, Lambda and Bedrock for real-time user queries on Cash Out and Early Pay; planned Polly/Connect voice integration.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Performed large-scale data processing and exploratory analysis using Python, SQL and Spark to evaluate performance metrics and generate actionable insights.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Worked on LTV/pLTV-style modeling, feature preparation, evaluation reports, threshold analysis and SHAP-based model interpretation for business decisioning.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Collaborated across product and analytics teams to translate business KPIs into measurable ML objectives, model outputs and reporting views.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SakhaTech Information Systems Pvt. Ltd. | Senior Data Scientist | Nov 2021 – Dec 2024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Developed and deployed AI/ML/LLM solutions across NLP, ASR/TTS, OCR, face recognition/detection and automation use cases using Python, PyTorch, TensorFlow, NumPy and SciPy.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Built a RASA-based chatbot and modernized it with LLaMA + RAG into an intelligent virtual assistant for real-time interactions using embeddings, retrieval and prompt workflows.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Customized and fine-tuned GPT-3/GPT-4 on proprietary datasets, improving response accuracy and efficiency by over 40%.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Improved supervised learning and classification models up to 90% accuracy using dynamic retraining, data augmentation and hyperparameter tuning.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Managed MySQL databases and real-time pipelines using Apache Kafka, PySpark, Flask/Django/FastAPI and Git/GitLab.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Integrated retrieval-based IVA workflows using embeddings, vector-search concepts and prompt templates to improve response relevance.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5" b="0">
                          <a:solidFill>
                            <a:srgbClr val="232323"/>
                          </a:solidFill>
                          <a:latin typeface="Arial"/>
                        </a:rPr>
                        <a:t>• Built backend APIs and deployment workflows for AI services, including model integration, monitoring, issue debugging and version-controlled delivery.</a:t>
                      </a:r>
                    </a:p>
                  </a:txBody>
                  <a:tcPr marL="45725" marR="45725" marT="45725" marB="45725" anchor="t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6e631f0f73_0_0"/>
          <p:cNvSpPr txBox="1"/>
          <p:nvPr/>
        </p:nvSpPr>
        <p:spPr>
          <a:xfrm>
            <a:off x="196150" y="45720"/>
            <a:ext cx="11919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Pts val="3200"/>
              <a:buFont typeface="Calibri"/>
              <a:buNone/>
            </a:pPr>
            <a:r>
              <a:rPr sz="2400" b="0">
                <a:solidFill>
                  <a:srgbClr val="F24B00"/>
                </a:solidFill>
                <a:latin typeface="Arial"/>
              </a:rPr>
              <a:t>NIKITA VERMA | re_nikitav | Nikita.Verma2@exlservice.com</a:t>
            </a:r>
          </a:p>
        </p:txBody>
      </p:sp>
      <p:sp>
        <p:nvSpPr>
          <p:cNvPr id="400" name="Google Shape;400;g16e631f0f73_0_0"/>
          <p:cNvSpPr txBox="1"/>
          <p:nvPr/>
        </p:nvSpPr>
        <p:spPr>
          <a:xfrm>
            <a:off x="196150" y="429768"/>
            <a:ext cx="112401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50" b="0">
                <a:solidFill>
                  <a:srgbClr val="000000"/>
                </a:solidFill>
                <a:latin typeface="Arial"/>
              </a:rPr>
              <a:t>AI Engineer – Speech AI / ML Infrastructure | Machine Learning Engineer</a:t>
            </a:r>
            <a:endParaRPr lang="en-US"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401" name="Google Shape;401;g16e631f0f73_0_0"/>
          <p:cNvGraphicFramePr/>
          <p:nvPr>
            <p:extLst>
              <p:ext uri="{D42A27DB-BD31-4B8C-83A1-F6EECF244321}">
                <p14:modId xmlns:p14="http://schemas.microsoft.com/office/powerpoint/2010/main" val="4082664854"/>
              </p:ext>
            </p:extLst>
          </p:nvPr>
        </p:nvGraphicFramePr>
        <p:xfrm>
          <a:off x="196150" y="657825"/>
          <a:ext cx="11393743" cy="6080780"/>
        </p:xfrm>
        <a:graphic>
          <a:graphicData uri="http://schemas.openxmlformats.org/drawingml/2006/table">
            <a:tbl>
              <a:tblPr>
                <a:noFill/>
                <a:tableStyleId>{781B5F13-59AE-45E4-9BB5-5CCFF8B39774}</a:tableStyleId>
              </a:tblPr>
              <a:tblGrid>
                <a:gridCol w="1423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3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5355">
                <a:tc>
                  <a:txBody>
                    <a:bodyPr anchor="ctr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entury Gothic"/>
                          <a:cs typeface="Century Gothic"/>
                          <a:sym typeface="Century Gothic"/>
                        </a:rPr>
                        <a:t>Education </a:t>
                      </a:r>
                      <a:endParaRPr sz="900" u="none" strike="noStrike" cap="none" dirty="0"/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76200" rIns="76200" tIns="50800" bIns="50800" wrap="square" anchor="t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19" b="1">
                          <a:solidFill>
                            <a:srgbClr val="000000"/>
                          </a:solidFill>
                          <a:latin typeface="Arial"/>
                        </a:rPr>
                        <a:t>Bachelor of Technology | 2015 – 2020</a:t>
                      </a: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2323"/>
                          </a:solidFill>
                          <a:latin typeface="Arial"/>
                        </a:rPr>
                        <a:t>Motilal Nehru National Institute of Technology Allahabad, Prayagraj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2323"/>
                          </a:solidFill>
                          <a:latin typeface="Arial"/>
                        </a:rPr>
                        <a:t>Intermediate | 2015 | New Standard Public School, Raebareli | 94%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2323"/>
                          </a:solidFill>
                          <a:latin typeface="Arial"/>
                        </a:rPr>
                        <a:t>Profile Focus: Speech AI / ASR-STT engineering, GenAI and LLM applications, RAG-based IVA systems, ML modeling, evaluation, deployment, cloud infrastructure, production APIs and GPU inference troubleshooting.</a:t>
                      </a:r>
                    </a:p>
                  </a:txBody>
                  <a:tcPr marL="45725" marR="45725" marT="45725" marB="45725" anchor="t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262">
                <a:tc>
                  <a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  <a:tabLst/>
                        <a:defRPr/>
                      </a:pPr>
                      <a:r>
                        <a:rPr lang="en-US" sz="950" b="1" i="0" u="none" strike="noStrike" cap="none" dirty="0">
                          <a:solidFill>
                            <a:srgbClr val="FFFFFF"/>
                          </a:solidFill>
                          <a:latin typeface="Arial" panose="020B0502020202020204" pitchFamily="34" charset="0"/>
                          <a:ea typeface="Century Gothic"/>
                          <a:cs typeface="Century Gothic"/>
                          <a:sym typeface="Century Gothic"/>
                        </a:rPr>
                        <a:t>Skills and Certifications</a:t>
                      </a: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76200" rIns="76200" tIns="50800" bIns="50800" wrap="square" anchor="t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sz="885" b="1">
                          <a:solidFill>
                            <a:srgbClr val="000000"/>
                          </a:solidFill>
                          <a:latin typeface="Arial"/>
                        </a:rPr>
                        <a:t>Technical Skills – AI / LLM / GenAI</a:t>
                      </a: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OpenAI GPT-3/GPT-4, GPT customization/fine-tuning, prompt engineering, guardrails, HITL workflows and LLM evaluation basics.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BERT, T5, LLaMA, NLP, text classification, supervised/unsupervised ML, classification algorithms and model optimization.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LoRA, PEFT, QLoRA/adapters concepts, dataset preparation, benchmark design, model-quality iteration and error analysis.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RAG, embeddings, chunking, semantic search, hybrid retrieval, reranking concepts, vector search and prompt workflow design.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Vector DB / Retrieval: FAISS, Pinecone/Chroma concepts, Elasticsearch/OpenSearch-style retrieval, metadata filtering and knowledge-base design.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Frameworks: LangChain, LlamaIndex, LangGraph, CrewAI concepts, ReAct-style reasoning, tool calling and multi-agent workflow design.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Agentic AI concepts: planning, memory persistence, dynamic context compaction, action routing, evaluation loops and workflow orchestration.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Safety &amp; compliance: prompt mitigation, validation checkpoints, human-in-the-loop review, response monitoring and policy-aware assistant behavior.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sz="885" b="1">
                          <a:solidFill>
                            <a:srgbClr val="000000"/>
                          </a:solidFill>
                          <a:latin typeface="Arial"/>
                        </a:rPr>
                        <a:t>Speech AI / ASR / STT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NVIDIA Parakeet, Nemotron Speech Streaming, Riva, NIM, Whisper, Google STT, Azure STT and ASR model benchmarking.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WebRTC VAD, Silero VAD, Adaptive Energy VAD, WebSocket/gRPC ASR pipelines, OpenAI-compatible STT APIs and streaming transcript events.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Metrics: WER, CER, SER, TTFT, TTFB, first latency, average latency, transcript quality review and context-switching score.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Numeric normalization for ASR: spoken-number handling for years, compound numbers, repeated digits, mixed digits/words and telephony sequences.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Live client testing: microphone/file streaming, MP3/MP4 audio validation, latency JSONs, transcript logs, endpoint health checks and failure analysis.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Production readiness: first-token/first-byte tracking, finalization logic, timeout handling, log-based debugging and benchmark result consolidation.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sz="885" b="1">
                          <a:solidFill>
                            <a:srgbClr val="000000"/>
                          </a:solidFill>
                          <a:latin typeface="Arial"/>
                        </a:rPr>
                        <a:t>Programming / Data / ML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Python, Scala, Shell Scripting, SQL, Pandas, NumPy, Scikit-learn, SciPy, TensorFlow, PyTorch and MLflow concepts.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Data pipelines, ETL, big data, data mining, DBMS, MySQL, MongoDB, Amazon RDS, Apache Kafka, Apache Spark and PySpark.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Marketing Mix Modeling, LTV prediction, lift estimation, causal inference, SHAP, business KPI tracking and model evaluation reports.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Model development: feature engineering, hyperparameter tuning, dynamic retraining, data augmentation, classification evaluation and error analysis.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sz="885" b="1">
                          <a:solidFill>
                            <a:srgbClr val="000000"/>
                          </a:solidFill>
                          <a:latin typeface="Arial"/>
                        </a:rPr>
                        <a:t>Cloud / Backend / Deployment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AWS Lambda, SageMaker, Bedrock, S3, Glue, Athena, EC2, Redshift, Lex, Polly and Connect.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GCP Compute Engine, Artifact Registry, Cloud Run, endpoint deployment, port/firewall setup, health checks, VM operations and troubleshooting.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Docker, CUDA 12.x, NVIDIA runtime, GPU inference setup, FastAPI, Uvicorn, Flask, Django REST Framework, REST APIs and WebSocket services.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Git, GitHub/GitLab, bash scripting, logging, monitoring, Power BI, Kibana, Grafana and Excel-based evaluation dashboards.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Serving stack assessment: NVIDIA Triton, NIM, Riva and vLLM evaluation for model discovery, GPU utilization and scalable inference strategy.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sz="885" b="1">
                          <a:solidFill>
                            <a:srgbClr val="000000"/>
                          </a:solidFill>
                          <a:latin typeface="Arial"/>
                        </a:rPr>
                        <a:t>Certifications / Training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Google Project Management Certificate / PM learning track.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ISB Project Management course learning exposure.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Hands-on production projects across Cloud, GenAI, Speech AI, ASR, ML infrastructure and customer-facing IVA systems.</a:t>
                      </a:r>
                    </a:p>
                    <a:p>
                      <a:pPr algn="l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5" b="0">
                          <a:solidFill>
                            <a:srgbClr val="232323"/>
                          </a:solidFill>
                          <a:latin typeface="Arial"/>
                        </a:rPr>
                        <a:t>• Continuous documentation of architecture decisions, deployment steps, benchmarking outputs and technical troubleshooting notes.</a:t>
                      </a:r>
                    </a:p>
                  </a:txBody>
                  <a:tcPr marL="45725" marR="45725" marT="45725" marB="45725" anchor="t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938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62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60</Words>
  <Application>Microsoft Office PowerPoint</Application>
  <PresentationFormat>Widescreen</PresentationFormat>
  <Paragraphs>49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Arial</vt:lpstr>
      <vt:lpstr>NTR</vt:lpstr>
      <vt:lpstr>Century Gothic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Chinoy Saluja</dc:creator>
  <cp:lastModifiedBy>Ajaharuddin</cp:lastModifiedBy>
  <cp:revision>4</cp:revision>
  <dcterms:created xsi:type="dcterms:W3CDTF">2022-01-13T09:33:02Z</dcterms:created>
  <dcterms:modified xsi:type="dcterms:W3CDTF">2026-02-10T15:07:25Z</dcterms:modified>
</cp:coreProperties>
</file>